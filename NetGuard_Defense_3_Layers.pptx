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0D2D2"/>
                </a:solidFill>
                <a:latin typeface="Montserrat"/>
              </a:defRPr>
            </a:pPr>
            <a:r>
              <a:t>NETGUARD / SECURITY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ontserrat"/>
              </a:defRPr>
            </a:pPr>
            <a:r>
              <a:t>CHIẾN LƯỢC PHÒNG THỦ 3 TẦNG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ECDDC"/>
                </a:solidFill>
                <a:latin typeface="Inter"/>
              </a:defRPr>
            </a:pPr>
            <a:r>
              <a:t>Defense in depth • Ngăn chặn, phát hiện sớm và phục hồi an toàn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10332720" cy="960120"/>
          </a:xfrm>
          <a:prstGeom prst="roundRect">
            <a:avLst/>
          </a:prstGeom>
          <a:solidFill>
            <a:srgbClr val="2CA078"/>
          </a:solidFill>
          <a:ln>
            <a:solidFill>
              <a:srgbClr val="2CA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ctr"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TẦNG 1 | PHÒNG NGỪA</a:t>
            </a:r>
          </a:p>
          <a:p>
            <a:pPr>
              <a:defRPr sz="1200">
                <a:solidFill>
                  <a:srgbClr val="F5FAFF"/>
                </a:solidFill>
                <a:latin typeface="Inter"/>
              </a:defRPr>
            </a:pPr>
            <a:r>
              <a:t>MFA • Vá lỗi • Lọc email/web • Phân quyền tối thiểu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10332720" cy="960120"/>
          </a:xfrm>
          <a:prstGeom prst="roundRect">
            <a:avLst/>
          </a:prstGeom>
          <a:solidFill>
            <a:srgbClr val="3470B4"/>
          </a:solidFill>
          <a:ln>
            <a:solidFill>
              <a:srgbClr val="34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ctr"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TẦNG 2 | PHÁT HIỆN</a:t>
            </a:r>
          </a:p>
          <a:p>
            <a:pPr>
              <a:defRPr sz="1200">
                <a:solidFill>
                  <a:srgbClr val="F5FAFF"/>
                </a:solidFill>
                <a:latin typeface="Inter"/>
              </a:defRPr>
            </a:pPr>
            <a:r>
              <a:t>EDR/XDR • SIEM • Phân tích hành vi • Cảnh báo tương quan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846320"/>
            <a:ext cx="10332720" cy="960120"/>
          </a:xfrm>
          <a:prstGeom prst="roundRect">
            <a:avLst/>
          </a:prstGeom>
          <a:solidFill>
            <a:srgbClr val="007C91"/>
          </a:solidFill>
          <a:ln>
            <a:solidFill>
              <a:srgbClr val="007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ctr"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TẦNG 3 | ỨNG PHÓ &amp; PHỤC HỒI</a:t>
            </a:r>
          </a:p>
          <a:p>
            <a:pPr>
              <a:defRPr sz="1200">
                <a:solidFill>
                  <a:srgbClr val="F5FAFF"/>
                </a:solidFill>
                <a:latin typeface="Inter"/>
              </a:defRPr>
            </a:pPr>
            <a:r>
              <a:t>Cô lập • Điều tra • Sao lưu bất biến • Khôi phục có xác minh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72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4C3D2"/>
                </a:solidFill>
                <a:latin typeface="Inter"/>
              </a:defRPr>
            </a:pPr>
            <a:r>
              <a:t>Nguyên tắc: không phụ thuộc một lớp duy nhất • Kiểm thử định kỳ • Đo lường bằng KPI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0D2D2"/>
                </a:solidFill>
                <a:latin typeface="Montserrat"/>
              </a:defRPr>
            </a:pPr>
            <a:r>
              <a:t>01 / VẬN HÀNH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Montserrat"/>
              </a:defRPr>
            </a:pPr>
            <a:r>
              <a:t>Từ cảnh báo đến báo cáo có thể hành động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2560320" cy="2377440"/>
          </a:xfrm>
          <a:prstGeom prst="roundRect">
            <a:avLst/>
          </a:prstGeom>
          <a:solidFill>
            <a:srgbClr val="172D46"/>
          </a:solidFill>
          <a:ln>
            <a:solidFill>
              <a:srgbClr val="31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0"/>
          <a:lstStyle/>
          <a:p>
            <a:pPr algn="ctr">
              <a:defRPr sz="2400" b="1">
                <a:solidFill>
                  <a:srgbClr val="40D2D2"/>
                </a:solidFill>
                <a:latin typeface="Montserrat"/>
              </a:defRPr>
            </a:pPr>
            <a:r>
              <a:t>01</a:t>
            </a:r>
          </a:p>
          <a:p>
            <a:pPr>
              <a:spcBef>
                <a:spcPts val="1000"/>
              </a:spcBef>
              <a:defRPr sz="1700" b="1">
                <a:solidFill>
                  <a:srgbClr val="FFFFFF"/>
                </a:solidFill>
                <a:latin typeface="Montserrat"/>
              </a:defRPr>
            </a:pPr>
            <a:r>
              <a:t>Chuẩn hóa</a:t>
            </a:r>
          </a:p>
          <a:p>
            <a:pPr>
              <a:spcBef>
                <a:spcPts val="800"/>
              </a:spcBef>
              <a:defRPr sz="1200">
                <a:solidFill>
                  <a:srgbClr val="C3D2E1"/>
                </a:solidFill>
                <a:latin typeface="Inter"/>
              </a:defRPr>
            </a:pPr>
            <a:r>
              <a:t>TRIM dữ liệu thô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2286000"/>
            <a:ext cx="2560320" cy="2377440"/>
          </a:xfrm>
          <a:prstGeom prst="roundRect">
            <a:avLst/>
          </a:prstGeom>
          <a:solidFill>
            <a:srgbClr val="172D46"/>
          </a:solidFill>
          <a:ln>
            <a:solidFill>
              <a:srgbClr val="31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0"/>
          <a:lstStyle/>
          <a:p>
            <a:pPr algn="ctr">
              <a:defRPr sz="2400" b="1">
                <a:solidFill>
                  <a:srgbClr val="40D2D2"/>
                </a:solidFill>
                <a:latin typeface="Montserrat"/>
              </a:defRPr>
            </a:pPr>
            <a:r>
              <a:t>02</a:t>
            </a:r>
          </a:p>
          <a:p>
            <a:pPr>
              <a:spcBef>
                <a:spcPts val="1000"/>
              </a:spcBef>
              <a:defRPr sz="1700" b="1">
                <a:solidFill>
                  <a:srgbClr val="FFFFFF"/>
                </a:solidFill>
                <a:latin typeface="Montserrat"/>
              </a:defRPr>
            </a:pPr>
            <a:r>
              <a:t>Đối chiếu</a:t>
            </a:r>
          </a:p>
          <a:p>
            <a:pPr>
              <a:spcBef>
                <a:spcPts val="800"/>
              </a:spcBef>
              <a:defRPr sz="1200">
                <a:solidFill>
                  <a:srgbClr val="C3D2E1"/>
                </a:solidFill>
                <a:latin typeface="Inter"/>
              </a:defRPr>
            </a:pPr>
            <a:r>
              <a:t>VLOOKUP khớp chính xác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2286000"/>
            <a:ext cx="2560320" cy="2377440"/>
          </a:xfrm>
          <a:prstGeom prst="roundRect">
            <a:avLst/>
          </a:prstGeom>
          <a:solidFill>
            <a:srgbClr val="172D46"/>
          </a:solidFill>
          <a:ln>
            <a:solidFill>
              <a:srgbClr val="31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0"/>
          <a:lstStyle/>
          <a:p>
            <a:pPr algn="ctr">
              <a:defRPr sz="2400" b="1">
                <a:solidFill>
                  <a:srgbClr val="40D2D2"/>
                </a:solidFill>
                <a:latin typeface="Montserrat"/>
              </a:defRPr>
            </a:pPr>
            <a:r>
              <a:t>03</a:t>
            </a:r>
          </a:p>
          <a:p>
            <a:pPr>
              <a:spcBef>
                <a:spcPts val="1000"/>
              </a:spcBef>
              <a:defRPr sz="1700" b="1">
                <a:solidFill>
                  <a:srgbClr val="FFFFFF"/>
                </a:solidFill>
                <a:latin typeface="Montserrat"/>
              </a:defRPr>
            </a:pPr>
            <a:r>
              <a:t>Ưu tiên</a:t>
            </a:r>
          </a:p>
          <a:p>
            <a:pPr>
              <a:spcBef>
                <a:spcPts val="800"/>
              </a:spcBef>
              <a:defRPr sz="1200">
                <a:solidFill>
                  <a:srgbClr val="C3D2E1"/>
                </a:solidFill>
                <a:latin typeface="Inter"/>
              </a:defRPr>
            </a:pPr>
            <a:r>
              <a:t>AutoFilter theo mức độ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72600" y="2286000"/>
            <a:ext cx="2560320" cy="2377440"/>
          </a:xfrm>
          <a:prstGeom prst="roundRect">
            <a:avLst/>
          </a:prstGeom>
          <a:solidFill>
            <a:srgbClr val="172D46"/>
          </a:solidFill>
          <a:ln>
            <a:solidFill>
              <a:srgbClr val="31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0"/>
          <a:lstStyle/>
          <a:p>
            <a:pPr algn="ctr">
              <a:defRPr sz="2400" b="1">
                <a:solidFill>
                  <a:srgbClr val="40D2D2"/>
                </a:solidFill>
                <a:latin typeface="Montserrat"/>
              </a:defRPr>
            </a:pPr>
            <a:r>
              <a:t>04</a:t>
            </a:r>
          </a:p>
          <a:p>
            <a:pPr>
              <a:spcBef>
                <a:spcPts val="1000"/>
              </a:spcBef>
              <a:defRPr sz="1700" b="1">
                <a:solidFill>
                  <a:srgbClr val="FFFFFF"/>
                </a:solidFill>
                <a:latin typeface="Montserrat"/>
              </a:defRPr>
            </a:pPr>
            <a:r>
              <a:t>Ứng phó</a:t>
            </a:r>
          </a:p>
          <a:p>
            <a:pPr>
              <a:spcBef>
                <a:spcPts val="800"/>
              </a:spcBef>
              <a:defRPr sz="1200">
                <a:solidFill>
                  <a:srgbClr val="C3D2E1"/>
                </a:solidFill>
                <a:latin typeface="Inter"/>
              </a:defRPr>
            </a:pPr>
            <a:r>
              <a:t>Cô lập, lưu bằng chứng, phục hồi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BECDDC"/>
                </a:solidFill>
                <a:latin typeface="Inter"/>
              </a:defRPr>
            </a:pPr>
            <a:r>
              <a:t>Dữ liệu trong bộ bài tập là minh họa; xác minh trước khi phát hành cho khách hàng.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